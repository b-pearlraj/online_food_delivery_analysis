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9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FFFFFF"/>
                </a:solidFill>
              </a:defRPr>
            </a:pPr>
            <a:r>
              <a:t>ONLINE FOOD DELIVERY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33172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0">
                <a:solidFill>
                  <a:srgbClr val="D2E1EF"/>
                </a:solidFill>
              </a:defRPr>
            </a:pPr>
            <a:r>
              <a:t>Data-Driven Business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29136"/>
                </a:solidFill>
              </a:defRPr>
            </a:pPr>
            <a:r>
              <a:t>Live Project Evaluation &amp; Mock Interview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709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FFFFFF"/>
                </a:solidFill>
              </a:defRPr>
            </a:pPr>
            <a:r>
              <a:t>Presented by Muthuraj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9436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0">
                <a:solidFill>
                  <a:srgbClr val="B4C7D8"/>
                </a:solidFill>
              </a:defRPr>
            </a:pPr>
            <a:r>
              <a:t>Python  |  Pandas  |  NumPy  |  EDA  |  SQL  |  PostgreSQL  |  Visualization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63A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0">
                <a:solidFill>
                  <a:srgbClr val="697480"/>
                </a:solidFill>
              </a:defRPr>
            </a:pPr>
            <a:r>
              <a:t>Turning raw food-delivery transactions into actionable business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474720" cy="173736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64008" cy="1737360"/>
          </a:xfrm>
          <a:prstGeom prst="rect">
            <a:avLst/>
          </a:prstGeom>
          <a:solidFill>
            <a:srgbClr val="2A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17904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Business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84248"/>
            <a:ext cx="3154679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Food-delivery platforms generate large volumes of customer, order, restaurant, delivery and payment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474720" cy="173736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64008" cy="1737360"/>
          </a:xfrm>
          <a:prstGeom prst="rect">
            <a:avLst/>
          </a:prstGeom>
          <a:solidFill>
            <a:srgbClr val="24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517904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984248"/>
            <a:ext cx="3154679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Clean, transform and analyze order data to understand demand, revenue, profitability, delivery and cancellations.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474720" cy="173736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64008" cy="1737360"/>
          </a:xfrm>
          <a:prstGeom prst="rect">
            <a:avLst/>
          </a:prstGeom>
          <a:solidFill>
            <a:srgbClr val="E29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517904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Business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984248"/>
            <a:ext cx="3154679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Support decisions related to customer targeting, restaurant operations, delivery resources, promotions and revenue.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77639"/>
            <a:ext cx="1691640" cy="868680"/>
          </a:xfrm>
          <a:prstGeom prst="roundRect">
            <a:avLst/>
          </a:prstGeom>
          <a:solidFill>
            <a:srgbClr val="F3F7FA"/>
          </a:solidFill>
          <a:ln>
            <a:solidFill>
              <a:srgbClr val="2A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1" y="4142231"/>
            <a:ext cx="15453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8263A"/>
                </a:solidFill>
              </a:defRPr>
            </a:pPr>
            <a:r>
              <a:t>Raw Data</a:t>
            </a:r>
          </a:p>
        </p:txBody>
      </p:sp>
      <p:sp>
        <p:nvSpPr>
          <p:cNvPr id="19" name="Chevron 18"/>
          <p:cNvSpPr/>
          <p:nvPr/>
        </p:nvSpPr>
        <p:spPr>
          <a:xfrm>
            <a:off x="2350008" y="4251959"/>
            <a:ext cx="82296" cy="274320"/>
          </a:xfrm>
          <a:prstGeom prst="chevron">
            <a:avLst/>
          </a:prstGeom>
          <a:solidFill>
            <a:srgbClr val="E29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450591" y="3977639"/>
            <a:ext cx="1691640" cy="868680"/>
          </a:xfrm>
          <a:prstGeom prst="roundRect">
            <a:avLst/>
          </a:prstGeom>
          <a:solidFill>
            <a:srgbClr val="F3F7FA"/>
          </a:solidFill>
          <a:ln>
            <a:solidFill>
              <a:srgbClr val="2A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23744" y="4142231"/>
            <a:ext cx="15453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8263A"/>
                </a:solidFill>
              </a:defRPr>
            </a:pPr>
            <a:r>
              <a:t>Cleaning</a:t>
            </a:r>
          </a:p>
        </p:txBody>
      </p:sp>
      <p:sp>
        <p:nvSpPr>
          <p:cNvPr id="22" name="Chevron 21"/>
          <p:cNvSpPr/>
          <p:nvPr/>
        </p:nvSpPr>
        <p:spPr>
          <a:xfrm>
            <a:off x="4160519" y="4251959"/>
            <a:ext cx="82296" cy="274320"/>
          </a:xfrm>
          <a:prstGeom prst="chevron">
            <a:avLst/>
          </a:prstGeom>
          <a:solidFill>
            <a:srgbClr val="E29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61104" y="3977639"/>
            <a:ext cx="1691640" cy="868680"/>
          </a:xfrm>
          <a:prstGeom prst="roundRect">
            <a:avLst/>
          </a:prstGeom>
          <a:solidFill>
            <a:srgbClr val="F3F7FA"/>
          </a:solidFill>
          <a:ln>
            <a:solidFill>
              <a:srgbClr val="2A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34256" y="4142231"/>
            <a:ext cx="15453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8263A"/>
                </a:solidFill>
              </a:defRPr>
            </a:pPr>
            <a:r>
              <a:t>EDA</a:t>
            </a:r>
          </a:p>
        </p:txBody>
      </p:sp>
      <p:sp>
        <p:nvSpPr>
          <p:cNvPr id="25" name="Chevron 24"/>
          <p:cNvSpPr/>
          <p:nvPr/>
        </p:nvSpPr>
        <p:spPr>
          <a:xfrm>
            <a:off x="5971031" y="4251959"/>
            <a:ext cx="82296" cy="274320"/>
          </a:xfrm>
          <a:prstGeom prst="chevron">
            <a:avLst/>
          </a:prstGeom>
          <a:solidFill>
            <a:srgbClr val="E29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71616" y="3977639"/>
            <a:ext cx="1691640" cy="868680"/>
          </a:xfrm>
          <a:prstGeom prst="roundRect">
            <a:avLst/>
          </a:prstGeom>
          <a:solidFill>
            <a:srgbClr val="F3F7FA"/>
          </a:solidFill>
          <a:ln>
            <a:solidFill>
              <a:srgbClr val="2A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44768" y="4142231"/>
            <a:ext cx="15453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8263A"/>
                </a:solidFill>
              </a:defRPr>
            </a:pPr>
            <a:r>
              <a:t>Feature Engineering</a:t>
            </a:r>
          </a:p>
        </p:txBody>
      </p:sp>
      <p:sp>
        <p:nvSpPr>
          <p:cNvPr id="28" name="Chevron 27"/>
          <p:cNvSpPr/>
          <p:nvPr/>
        </p:nvSpPr>
        <p:spPr>
          <a:xfrm>
            <a:off x="7781544" y="4251959"/>
            <a:ext cx="82296" cy="274320"/>
          </a:xfrm>
          <a:prstGeom prst="chevron">
            <a:avLst/>
          </a:prstGeom>
          <a:solidFill>
            <a:srgbClr val="E29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882127" y="3977639"/>
            <a:ext cx="1691640" cy="868680"/>
          </a:xfrm>
          <a:prstGeom prst="roundRect">
            <a:avLst/>
          </a:prstGeom>
          <a:solidFill>
            <a:srgbClr val="F3F7FA"/>
          </a:solidFill>
          <a:ln>
            <a:solidFill>
              <a:srgbClr val="2A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79" y="4142231"/>
            <a:ext cx="15453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8263A"/>
                </a:solidFill>
              </a:defRPr>
            </a:pPr>
            <a:r>
              <a:t>SQL</a:t>
            </a:r>
          </a:p>
        </p:txBody>
      </p:sp>
      <p:sp>
        <p:nvSpPr>
          <p:cNvPr id="31" name="Chevron 30"/>
          <p:cNvSpPr/>
          <p:nvPr/>
        </p:nvSpPr>
        <p:spPr>
          <a:xfrm>
            <a:off x="9592055" y="4251959"/>
            <a:ext cx="82296" cy="274320"/>
          </a:xfrm>
          <a:prstGeom prst="chevron">
            <a:avLst/>
          </a:prstGeom>
          <a:solidFill>
            <a:srgbClr val="E29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92640" y="3977639"/>
            <a:ext cx="1691640" cy="868680"/>
          </a:xfrm>
          <a:prstGeom prst="roundRect">
            <a:avLst/>
          </a:prstGeom>
          <a:solidFill>
            <a:srgbClr val="F3F7FA"/>
          </a:solidFill>
          <a:ln>
            <a:solidFill>
              <a:srgbClr val="2A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5792" y="4142231"/>
            <a:ext cx="15453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8263A"/>
                </a:solidFill>
              </a:defRPr>
            </a:pPr>
            <a:r>
              <a:t>Insights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651967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697480"/>
                </a:solidFill>
              </a:defRPr>
            </a:pPr>
            <a:r>
              <a:t>Online Food Delivery Analysis | Live Project Evaluation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9748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63A"/>
                </a:solidFill>
              </a:defRPr>
            </a:pPr>
            <a:r>
              <a:t>Dataset &amp;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0">
                <a:solidFill>
                  <a:srgbClr val="697480"/>
                </a:solidFill>
              </a:defRPr>
            </a:pPr>
            <a:r>
              <a:t>100,000 online food delivery orders with 25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2468880" cy="114300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A67AD"/>
                </a:solidFill>
              </a:defRPr>
            </a:pPr>
            <a:r>
              <a:t>100,000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8424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0">
                <a:solidFill>
                  <a:srgbClr val="697480"/>
                </a:solidFill>
              </a:defRPr>
            </a:pPr>
            <a:r>
              <a:t>Orders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325880"/>
            <a:ext cx="2468880" cy="114300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41732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48E87"/>
                </a:solidFill>
              </a:defRPr>
            </a:pPr>
            <a: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98424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0">
                <a:solidFill>
                  <a:srgbClr val="697480"/>
                </a:solidFill>
              </a:defRPr>
            </a:pPr>
            <a:r>
              <a:t>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25880"/>
            <a:ext cx="2468880" cy="114300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41732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E29136"/>
                </a:solidFill>
              </a:defRPr>
            </a:pPr>
            <a:r>
              <a:t>17.88%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98424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0">
                <a:solidFill>
                  <a:srgbClr val="697480"/>
                </a:solidFill>
              </a:defRPr>
            </a:pPr>
            <a:r>
              <a:t>Avg. profit margin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325880"/>
            <a:ext cx="2468880" cy="114300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141732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418B5B"/>
                </a:solidFill>
              </a:defRPr>
            </a:pPr>
            <a:r>
              <a:t>33,453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198424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0">
                <a:solidFill>
                  <a:srgbClr val="697480"/>
                </a:solidFill>
              </a:defRPr>
            </a:pPr>
            <a:r>
              <a:t>Peak-hour 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8803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2F37"/>
                </a:solidFill>
              </a:defRPr>
            </a:pPr>
            <a:r>
              <a:t>• Important fields: Order ID, Customer Age, City, Cuisine Type, Order Value, Final Amount, Delivery Time, Distance, Ratings, Order Status, Payment Mode and Profit Margin.</a:t>
            </a:r>
          </a:p>
          <a:p>
            <a:pPr>
              <a:spcAft>
                <a:spcPts val="800"/>
              </a:spcAft>
              <a:defRPr sz="1500">
                <a:solidFill>
                  <a:srgbClr val="282F37"/>
                </a:solidFill>
              </a:defRPr>
            </a:pPr>
            <a:r>
              <a:t>• Python stack: Pandas, NumPy and Matplotlib.</a:t>
            </a:r>
          </a:p>
          <a:p>
            <a:pPr>
              <a:spcAft>
                <a:spcPts val="800"/>
              </a:spcAft>
              <a:defRPr sz="1500">
                <a:solidFill>
                  <a:srgbClr val="282F37"/>
                </a:solidFill>
              </a:defRPr>
            </a:pPr>
            <a:r>
              <a:t>• Database/SQL: PostgreSQL with SQLAlchemy and psycopg2.</a:t>
            </a:r>
          </a:p>
          <a:p>
            <a:pPr>
              <a:spcAft>
                <a:spcPts val="800"/>
              </a:spcAft>
              <a:defRPr sz="1500">
                <a:solidFill>
                  <a:srgbClr val="282F37"/>
                </a:solidFill>
              </a:defRPr>
            </a:pPr>
            <a:r>
              <a:t>• Analysis focus: customer behavior, revenue, profitability, delivery performance and cancellations.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651967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697480"/>
                </a:solidFill>
              </a:defRPr>
            </a:pPr>
            <a:r>
              <a:t>Online Food Delivery Analysis | Live Project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9748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63A"/>
                </a:solidFill>
              </a:defRPr>
            </a:pPr>
            <a:r>
              <a:t>Data Cleaning &amp; Missing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0">
                <a:solidFill>
                  <a:srgbClr val="697480"/>
                </a:solidFill>
              </a:defRPr>
            </a:pPr>
            <a:r>
              <a:t>Quality first: identify, treat and validate before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182880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1828800"/>
          </a:xfrm>
          <a:prstGeom prst="rect">
            <a:avLst/>
          </a:prstGeom>
          <a:solidFill>
            <a:srgbClr val="2A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72184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Numerical Variables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38528"/>
            <a:ext cx="31546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Mean for Customer_Age; median for Delivery_Time_Min, Distance_km, Order_Value, Discount, Final_Amount and Delivery_Rating.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74720" cy="182880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64008" cy="1828800"/>
          </a:xfrm>
          <a:prstGeom prst="rect">
            <a:avLst/>
          </a:prstGeom>
          <a:solidFill>
            <a:srgbClr val="24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72184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Categorical Variables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938528"/>
            <a:ext cx="31546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Mode for Customer_Gender, City, Area, Cuisine_Type, Payment_Mode and Peak_Hour.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474720" cy="182880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64008" cy="1828800"/>
          </a:xfrm>
          <a:prstGeom prst="rect">
            <a:avLst/>
          </a:prstGeom>
          <a:solidFill>
            <a:srgbClr val="E29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472184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Cancellation Reason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938528"/>
            <a:ext cx="31546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Missing cancellation reasons were replaced with “Not Cancelled” where appropriate.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20440"/>
            <a:ext cx="5303520" cy="160020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520440"/>
            <a:ext cx="64008" cy="1600200"/>
          </a:xfrm>
          <a:prstGeom prst="rect">
            <a:avLst/>
          </a:prstGeom>
          <a:solidFill>
            <a:srgbClr val="41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666744"/>
            <a:ext cx="4983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Important Business 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133088"/>
            <a:ext cx="49834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Missing delivery time and rating for cancelled orders are valid business-condition missing values because no delivery occurred.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520440"/>
            <a:ext cx="5303520" cy="160020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520440"/>
            <a:ext cx="64008" cy="1600200"/>
          </a:xfrm>
          <a:prstGeom prst="rect">
            <a:avLst/>
          </a:prstGeom>
          <a:solidFill>
            <a:srgbClr val="2A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666744"/>
            <a:ext cx="4983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Why median?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33088"/>
            <a:ext cx="49834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Median is less sensitive to extreme values, making it suitable for variables such as delivery time, distance and order value.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651967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697480"/>
                </a:solidFill>
              </a:defRPr>
            </a:pPr>
            <a:r>
              <a:t>Online Food Delivery Analysis | Live Project Evaluation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9748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63A"/>
                </a:solidFill>
              </a:defRPr>
            </a:pPr>
            <a:r>
              <a:t>Outlier Treatment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0">
                <a:solidFill>
                  <a:srgbClr val="697480"/>
                </a:solidFill>
              </a:defRPr>
            </a:pPr>
            <a:r>
              <a:t>Statistical cleaning + business-rule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337560" cy="173736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64008" cy="1737360"/>
          </a:xfrm>
          <a:prstGeom prst="rect">
            <a:avLst/>
          </a:prstGeom>
          <a:solidFill>
            <a:srgbClr val="2A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72184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IQR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38528"/>
            <a:ext cx="3017520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IQR = Q3 − Q1</a:t>
            </a:r>
            <a:br/>
            <a:r>
              <a:t>Lower = Q1 − 1.5×IQR</a:t>
            </a:r>
            <a:br/>
            <a:r>
              <a:t>Upper = Q3 + 1.5×IQR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337560" cy="173736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325880"/>
            <a:ext cx="64008" cy="1737360"/>
          </a:xfrm>
          <a:prstGeom prst="rect">
            <a:avLst/>
          </a:prstGeom>
          <a:solidFill>
            <a:srgbClr val="24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472184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Delivery Time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938528"/>
            <a:ext cx="3017520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Calculated limits: −102.5 to 325.5 minutes. Observed values were within the limits, so no outlier treatment was required.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25880"/>
            <a:ext cx="3337560" cy="173736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325880"/>
            <a:ext cx="64008" cy="1737360"/>
          </a:xfrm>
          <a:prstGeom prst="rect">
            <a:avLst/>
          </a:prstGeom>
          <a:solidFill>
            <a:srgbClr val="E29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472184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Business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38528"/>
            <a:ext cx="3017520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Cancelled orders should not have delivery time; delivered orders should not have cancellation reason.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49039"/>
            <a:ext cx="10241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2F37"/>
                </a:solidFill>
              </a:defRPr>
            </a:pPr>
            <a:r>
              <a:t>• Discount should not exceed order value.</a:t>
            </a:r>
          </a:p>
          <a:p>
            <a:pPr>
              <a:spcAft>
                <a:spcPts val="800"/>
              </a:spcAft>
              <a:defRPr sz="1500">
                <a:solidFill>
                  <a:srgbClr val="282F37"/>
                </a:solidFill>
              </a:defRPr>
            </a:pPr>
            <a:r>
              <a:t>• Final amount should not exceed order value.</a:t>
            </a:r>
          </a:p>
          <a:p>
            <a:pPr>
              <a:spcAft>
                <a:spcPts val="800"/>
              </a:spcAft>
              <a:defRPr sz="1500">
                <a:solidFill>
                  <a:srgbClr val="282F37"/>
                </a:solidFill>
              </a:defRPr>
            </a:pPr>
            <a:r>
              <a:t>• Ratings should remain between 1 and 5.</a:t>
            </a:r>
          </a:p>
          <a:p>
            <a:pPr>
              <a:spcAft>
                <a:spcPts val="800"/>
              </a:spcAft>
              <a:defRPr sz="1500">
                <a:solidFill>
                  <a:srgbClr val="282F37"/>
                </a:solidFill>
              </a:defRPr>
            </a:pPr>
            <a:r>
              <a:t>• These checks ensure the dataset is logically consistent, not just statistically clean.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651967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697480"/>
                </a:solidFill>
              </a:defRPr>
            </a:pPr>
            <a:r>
              <a:t>Online Food Delivery Analysis | Live Project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9748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63A"/>
                </a:solidFill>
              </a:defRPr>
            </a:pPr>
            <a: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0">
                <a:solidFill>
                  <a:srgbClr val="697480"/>
                </a:solidFill>
              </a:defRPr>
            </a:pPr>
            <a:r>
              <a:t>Understand demand, customers and operational behavior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160020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1600200"/>
          </a:xfrm>
          <a:prstGeom prst="rect">
            <a:avLst/>
          </a:prstGeom>
          <a:solidFill>
            <a:srgbClr val="2A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72184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Order &amp;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38528"/>
            <a:ext cx="3154679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Order-value distribution, delivery-time distribution and delivery-performance categories.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74720" cy="160020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64008" cy="1600200"/>
          </a:xfrm>
          <a:prstGeom prst="rect">
            <a:avLst/>
          </a:prstGeom>
          <a:solidFill>
            <a:srgbClr val="24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72184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Customer &amp; Location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938528"/>
            <a:ext cx="3154679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City-wise orders, customer age groups and weekday vs weekend demand.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474720" cy="160020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64008" cy="1600200"/>
          </a:xfrm>
          <a:prstGeom prst="rect">
            <a:avLst/>
          </a:prstGeom>
          <a:solidFill>
            <a:srgbClr val="E29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472184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Restaurant &amp; Cuisine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938528"/>
            <a:ext cx="3154679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Cuisine preferences, restaurant ratings and restaurant-level performance.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14600" y="3429000"/>
            <a:ext cx="3474720" cy="160020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429000"/>
            <a:ext cx="64008" cy="1600200"/>
          </a:xfrm>
          <a:prstGeom prst="rect">
            <a:avLst/>
          </a:prstGeom>
          <a:solidFill>
            <a:srgbClr val="41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7480" y="3575304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Operational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4041648"/>
            <a:ext cx="3154679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Distance vs delivery time, cancellation reasons, peak-hour demand and payment preferences.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429000"/>
            <a:ext cx="3474720" cy="160020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429000"/>
            <a:ext cx="64008" cy="1600200"/>
          </a:xfrm>
          <a:prstGeom prst="rect">
            <a:avLst/>
          </a:prstGeom>
          <a:solidFill>
            <a:srgbClr val="2A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75304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Correlation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041648"/>
            <a:ext cx="3154679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Used correlation to understand numerical relationships and identify useful patterns.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651967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697480"/>
                </a:solidFill>
              </a:defRPr>
            </a:pPr>
            <a:r>
              <a:t>Online Food Delivery Analysis | Live Project Evaluation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9748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63A"/>
                </a:solidFill>
              </a:defRPr>
            </a:pPr>
            <a: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0">
                <a:solidFill>
                  <a:srgbClr val="697480"/>
                </a:solidFill>
              </a:defRPr>
            </a:pPr>
            <a:r>
              <a:t>Create business-friendly analytical variables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474720" cy="141732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64008" cy="1417320"/>
          </a:xfrm>
          <a:prstGeom prst="rect">
            <a:avLst/>
          </a:prstGeom>
          <a:solidFill>
            <a:srgbClr val="2A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26463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Order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92807"/>
            <a:ext cx="315467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Classified orders as Weekday or Weekend.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80160"/>
            <a:ext cx="3474720" cy="141732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280160"/>
            <a:ext cx="64008" cy="1417320"/>
          </a:xfrm>
          <a:prstGeom prst="rect">
            <a:avLst/>
          </a:prstGeom>
          <a:solidFill>
            <a:srgbClr val="24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26463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Profit Margin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892807"/>
            <a:ext cx="315467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Converted profit margin into a percentage for easier interpretation.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80160"/>
            <a:ext cx="3474720" cy="141732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280160"/>
            <a:ext cx="64008" cy="1417320"/>
          </a:xfrm>
          <a:prstGeom prst="rect">
            <a:avLst/>
          </a:prstGeom>
          <a:solidFill>
            <a:srgbClr val="E29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426463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Delivery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892807"/>
            <a:ext cx="315467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Fast ≤30 min; Moderate 31–60; Slow 61–120; Very Slow &gt;120.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14600" y="3154680"/>
            <a:ext cx="3474720" cy="141732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154680"/>
            <a:ext cx="64008" cy="1417320"/>
          </a:xfrm>
          <a:prstGeom prst="rect">
            <a:avLst/>
          </a:prstGeom>
          <a:solidFill>
            <a:srgbClr val="41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7480" y="3300984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Customer Age Group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3767328"/>
            <a:ext cx="315467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Grouped customers into 18–25, 26–35, 36–45 and 46–60.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154680"/>
            <a:ext cx="3474720" cy="141732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154680"/>
            <a:ext cx="64008" cy="1417320"/>
          </a:xfrm>
          <a:prstGeom prst="rect">
            <a:avLst/>
          </a:prstGeom>
          <a:solidFill>
            <a:srgbClr val="2A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300984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Peak Hour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767328"/>
            <a:ext cx="315467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Used the peak-hour indicator to compare high-demand and normal periods.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074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2F37"/>
                </a:solidFill>
              </a:defRPr>
            </a:pPr>
            <a:r>
              <a:t>• Feature engineering converts raw fields into variables that are easier to aggregate, visualize and use for business decisions.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651967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697480"/>
                </a:solidFill>
              </a:defRPr>
            </a:pPr>
            <a:r>
              <a:t>Online Food Delivery Analysis | Live Project Evaluation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9748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63A"/>
                </a:solidFill>
              </a:defRPr>
            </a:pPr>
            <a:r>
              <a:t>Customer &amp; Demand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0">
                <a:solidFill>
                  <a:srgbClr val="697480"/>
                </a:solidFill>
              </a:defRPr>
            </a:pPr>
            <a:r>
              <a:t>Who orders, when they order and what they prefer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2560320" cy="114300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23774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A67AD"/>
                </a:solidFill>
              </a:defRPr>
            </a:pPr>
            <a:r>
              <a:t>71,370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84248"/>
            <a:ext cx="23774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0">
                <a:solidFill>
                  <a:srgbClr val="697480"/>
                </a:solidFill>
              </a:defRPr>
            </a:pPr>
            <a:r>
              <a:t>Weekday orders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325880"/>
            <a:ext cx="2560320" cy="114300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417320"/>
            <a:ext cx="23774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48E87"/>
                </a:solidFill>
              </a:defRPr>
            </a:pPr>
            <a:r>
              <a:t>28,630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984248"/>
            <a:ext cx="23774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0">
                <a:solidFill>
                  <a:srgbClr val="697480"/>
                </a:solidFill>
              </a:defRPr>
            </a:pPr>
            <a:r>
              <a:t>Weekend orders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25880"/>
            <a:ext cx="2560320" cy="114300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23774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E29136"/>
                </a:solidFill>
              </a:defRPr>
            </a:pPr>
            <a:r>
              <a:t>33,570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84248"/>
            <a:ext cx="23774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0">
                <a:solidFill>
                  <a:srgbClr val="697480"/>
                </a:solidFill>
              </a:defRPr>
            </a:pPr>
            <a:r>
              <a:t>Indian cuisine orders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325880"/>
            <a:ext cx="2103120" cy="114300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1417320"/>
            <a:ext cx="19202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418B5B"/>
                </a:solidFill>
              </a:defRPr>
            </a:pPr>
            <a:r>
              <a:t>40,005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1984248"/>
            <a:ext cx="19202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0">
                <a:solidFill>
                  <a:srgbClr val="697480"/>
                </a:solidFill>
              </a:defRPr>
            </a:pPr>
            <a:r>
              <a:t>Card payments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063240"/>
            <a:ext cx="4937760" cy="160020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3063240"/>
            <a:ext cx="64008" cy="1600200"/>
          </a:xfrm>
          <a:prstGeom prst="rect">
            <a:avLst/>
          </a:prstGeom>
          <a:solidFill>
            <a:srgbClr val="2A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209544"/>
            <a:ext cx="4617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Insight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675888"/>
            <a:ext cx="46177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Weekday orders dominate the dataset. Indian cuisine has the highest order volume, while card is the most-used payment method.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063240"/>
            <a:ext cx="4937760" cy="160020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063240"/>
            <a:ext cx="64008" cy="1600200"/>
          </a:xfrm>
          <a:prstGeom prst="rect">
            <a:avLst/>
          </a:prstGeom>
          <a:solidFill>
            <a:srgbClr val="24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209544"/>
            <a:ext cx="4617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Business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675888"/>
            <a:ext cx="46177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These insights can support staffing, promotion planning, restaurant partnerships and payment experience optimization.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651967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697480"/>
                </a:solidFill>
              </a:defRPr>
            </a:pPr>
            <a:r>
              <a:t>Online Food Delivery Analysis | Live Project Evaluation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9748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63A"/>
                </a:solidFill>
              </a:defRPr>
            </a:pPr>
            <a:r>
              <a:t>Revenue &amp; Profitability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0">
                <a:solidFill>
                  <a:srgbClr val="697480"/>
                </a:solidFill>
              </a:defRPr>
            </a:pPr>
            <a:r>
              <a:t>Identify high-value markets and profitable transactions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2926080" cy="114300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E29136"/>
                </a:solidFill>
              </a:defRPr>
            </a:pPr>
            <a:r>
              <a:t>₹5.70 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8424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0">
                <a:solidFill>
                  <a:srgbClr val="697480"/>
                </a:solidFill>
              </a:defRPr>
            </a:pPr>
            <a:r>
              <a:t>Hyderabad revenue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2926080" cy="114300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69079" y="141732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A67AD"/>
                </a:solidFill>
              </a:defRPr>
            </a:pPr>
            <a:r>
              <a:t>₹5.74 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79" y="198424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0">
                <a:solidFill>
                  <a:srgbClr val="697480"/>
                </a:solidFill>
              </a:defRPr>
            </a:pPr>
            <a:r>
              <a:t>Indian cuisine revenue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325880"/>
            <a:ext cx="2926080" cy="114300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59" y="141732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418B5B"/>
                </a:solidFill>
              </a:defRPr>
            </a:pPr>
            <a:r>
              <a:t>17.88%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59" y="198424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0">
                <a:solidFill>
                  <a:srgbClr val="697480"/>
                </a:solidFill>
              </a:defRPr>
            </a:pPr>
            <a:r>
              <a:t>Average profit margin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154680"/>
            <a:ext cx="4937760" cy="150876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154680"/>
            <a:ext cx="64008" cy="1508760"/>
          </a:xfrm>
          <a:prstGeom prst="rect">
            <a:avLst/>
          </a:prstGeom>
          <a:solidFill>
            <a:srgbClr val="2A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300984"/>
            <a:ext cx="4617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Top customer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67328"/>
            <a:ext cx="461772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CUST5267 generated approximately ₹51,827 in total final-amount value in the analysis.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154680"/>
            <a:ext cx="4937760" cy="150876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154680"/>
            <a:ext cx="64008" cy="1508760"/>
          </a:xfrm>
          <a:prstGeom prst="rect">
            <a:avLst/>
          </a:prstGeom>
          <a:solidFill>
            <a:srgbClr val="24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300984"/>
            <a:ext cx="4617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Business 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767328"/>
            <a:ext cx="461772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High-revenue cities and cuisines can receive targeted marketing, operational investment and partner expansion.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651967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697480"/>
                </a:solidFill>
              </a:defRPr>
            </a:pPr>
            <a:r>
              <a:t>Online Food Delivery Analysis | Live Project 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9748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63A"/>
                </a:solidFill>
              </a:defRPr>
            </a:pPr>
            <a:r>
              <a:t>Delivery &amp; Operational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0">
                <a:solidFill>
                  <a:srgbClr val="697480"/>
                </a:solidFill>
              </a:defRPr>
            </a:pPr>
            <a:r>
              <a:t>Measure delivery efficiency and peak-hour demand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3108960" cy="114300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29260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A67AD"/>
                </a:solidFill>
              </a:defRPr>
            </a:pPr>
            <a:r>
              <a:t>124–126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84248"/>
            <a:ext cx="2926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0">
                <a:solidFill>
                  <a:srgbClr val="697480"/>
                </a:solidFill>
              </a:defRPr>
            </a:pPr>
            <a:r>
              <a:t>Approx. city avg delivery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325880"/>
            <a:ext cx="3108960" cy="114300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79" y="1417320"/>
            <a:ext cx="29260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E29136"/>
                </a:solidFill>
              </a:defRPr>
            </a:pPr>
            <a:r>
              <a:t>33,453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79" y="1984248"/>
            <a:ext cx="2926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0">
                <a:solidFill>
                  <a:srgbClr val="697480"/>
                </a:solidFill>
              </a:defRPr>
            </a:pPr>
            <a:r>
              <a:t>Peak-hour orders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325880"/>
            <a:ext cx="3108960" cy="114300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417320"/>
            <a:ext cx="29260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48E87"/>
                </a:solidFill>
              </a:defRPr>
            </a:pPr>
            <a:r>
              <a:t>0.0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984248"/>
            <a:ext cx="2926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0">
                <a:solidFill>
                  <a:srgbClr val="697480"/>
                </a:solidFill>
              </a:defRPr>
            </a:pPr>
            <a:r>
              <a:t>Distance–time correlation*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108960"/>
            <a:ext cx="4937760" cy="160020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108960"/>
            <a:ext cx="64008" cy="1600200"/>
          </a:xfrm>
          <a:prstGeom prst="rect">
            <a:avLst/>
          </a:prstGeom>
          <a:solidFill>
            <a:srgbClr val="2A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255264"/>
            <a:ext cx="4617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Distance vs Delivery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21608"/>
            <a:ext cx="46177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The current dataset produced approximately 0.0 correlation, so there is no meaningful linear relationship in this dataset.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108960"/>
            <a:ext cx="4937760" cy="160020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108960"/>
            <a:ext cx="64008" cy="1600200"/>
          </a:xfrm>
          <a:prstGeom prst="rect">
            <a:avLst/>
          </a:prstGeom>
          <a:solidFill>
            <a:srgbClr val="E29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255264"/>
            <a:ext cx="4617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Operational 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721608"/>
            <a:ext cx="46177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Peak-hour analysis can support delivery staffing, restaurant preparation capacity and resource planning.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074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97480"/>
                </a:solidFill>
              </a:defRPr>
            </a:pPr>
            <a:r>
              <a:t>*Interpretation is specific to this dataset and should not be generalized to all delivery platforms.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651967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697480"/>
                </a:solidFill>
              </a:defRPr>
            </a:pPr>
            <a:r>
              <a:t>Online Food Delivery Analysis | Live Project Evaluation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9748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63A"/>
                </a:solidFill>
              </a:defRPr>
            </a:pPr>
            <a:r>
              <a:t>Restaurant &amp; Cancellation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0">
                <a:solidFill>
                  <a:srgbClr val="697480"/>
                </a:solidFill>
              </a:defRPr>
            </a:pPr>
            <a:r>
              <a:t>Find operational issues that may affect customer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383280" cy="169164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64008" cy="1691640"/>
          </a:xfrm>
          <a:prstGeom prst="rect">
            <a:avLst/>
          </a:prstGeom>
          <a:solidFill>
            <a:srgbClr val="2A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72184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Top-rated restaurant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38528"/>
            <a:ext cx="3063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Restaurant_101 has an average restaurant rating of approximately 4.326 in the analysis.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383280" cy="169164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64008" cy="1691640"/>
          </a:xfrm>
          <a:prstGeom prst="rect">
            <a:avLst/>
          </a:prstGeom>
          <a:solidFill>
            <a:srgbClr val="E29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72184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Highest cancellation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38528"/>
            <a:ext cx="3063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Restaurant_391 shows an approximate cancellation rate of 21.94% among the restaurant-level results.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383280" cy="169164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64008" cy="1691640"/>
          </a:xfrm>
          <a:prstGeom prst="rect">
            <a:avLst/>
          </a:prstGeom>
          <a:solidFill>
            <a:srgbClr val="24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472184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Leading actual reason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938528"/>
            <a:ext cx="3063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Late Delivery is the leading actual cancellation reason, followed by Customer Cancelled and Restaurant Issue.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9476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2F37"/>
                </a:solidFill>
              </a:defRPr>
            </a:pPr>
            <a:r>
              <a:t>• Cancellation rate = Cancelled Orders / Total Orders × 100.</a:t>
            </a:r>
          </a:p>
          <a:p>
            <a:pPr>
              <a:spcAft>
                <a:spcPts val="800"/>
              </a:spcAft>
              <a:defRPr sz="1500">
                <a:solidFill>
                  <a:srgbClr val="282F37"/>
                </a:solidFill>
              </a:defRPr>
            </a:pPr>
            <a:r>
              <a:t>• Restaurant-level cancellation analysis helps identify partners requiring operational investigation.</a:t>
            </a:r>
          </a:p>
          <a:p>
            <a:pPr>
              <a:spcAft>
                <a:spcPts val="800"/>
              </a:spcAft>
              <a:defRPr sz="1500">
                <a:solidFill>
                  <a:srgbClr val="282F37"/>
                </a:solidFill>
              </a:defRPr>
            </a:pPr>
            <a:r>
              <a:t>• Late delivery suggests an area for deeper analysis of delivery capacity and service-level performance.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651967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697480"/>
                </a:solidFill>
              </a:defRPr>
            </a:pPr>
            <a:r>
              <a:t>Online Food Delivery Analysis | Live Project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9748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63A"/>
                </a:solidFill>
              </a:defRPr>
            </a:pPr>
            <a:r>
              <a:t>PostgreSQL &amp; SQL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0">
                <a:solidFill>
                  <a:srgbClr val="697480"/>
                </a:solidFill>
              </a:defRPr>
            </a:pPr>
            <a:r>
              <a:t>Move from notebook analysis to reusable database-driven reporting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691640" cy="868680"/>
          </a:xfrm>
          <a:prstGeom prst="roundRect">
            <a:avLst/>
          </a:prstGeom>
          <a:solidFill>
            <a:srgbClr val="F3F7FA"/>
          </a:solidFill>
          <a:ln>
            <a:solidFill>
              <a:srgbClr val="2A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581912"/>
            <a:ext cx="15453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8263A"/>
                </a:solidFill>
              </a:defRPr>
            </a:pPr>
            <a:r>
              <a:t>Pandas</a:t>
            </a:r>
          </a:p>
        </p:txBody>
      </p:sp>
      <p:sp>
        <p:nvSpPr>
          <p:cNvPr id="7" name="Chevron 6"/>
          <p:cNvSpPr/>
          <p:nvPr/>
        </p:nvSpPr>
        <p:spPr>
          <a:xfrm>
            <a:off x="2350008" y="1691640"/>
            <a:ext cx="82296" cy="274320"/>
          </a:xfrm>
          <a:prstGeom prst="chevron">
            <a:avLst/>
          </a:prstGeom>
          <a:solidFill>
            <a:srgbClr val="E29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50591" y="1417320"/>
            <a:ext cx="1691640" cy="868680"/>
          </a:xfrm>
          <a:prstGeom prst="roundRect">
            <a:avLst/>
          </a:prstGeom>
          <a:solidFill>
            <a:srgbClr val="F3F7FA"/>
          </a:solidFill>
          <a:ln>
            <a:solidFill>
              <a:srgbClr val="2A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23744" y="1581912"/>
            <a:ext cx="15453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8263A"/>
                </a:solidFill>
              </a:defRPr>
            </a:pPr>
            <a:r>
              <a:t>Clean Data</a:t>
            </a:r>
          </a:p>
        </p:txBody>
      </p:sp>
      <p:sp>
        <p:nvSpPr>
          <p:cNvPr id="10" name="Chevron 9"/>
          <p:cNvSpPr/>
          <p:nvPr/>
        </p:nvSpPr>
        <p:spPr>
          <a:xfrm>
            <a:off x="4160519" y="1691640"/>
            <a:ext cx="82296" cy="274320"/>
          </a:xfrm>
          <a:prstGeom prst="chevron">
            <a:avLst/>
          </a:prstGeom>
          <a:solidFill>
            <a:srgbClr val="E29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61104" y="1417320"/>
            <a:ext cx="1691640" cy="868680"/>
          </a:xfrm>
          <a:prstGeom prst="roundRect">
            <a:avLst/>
          </a:prstGeom>
          <a:solidFill>
            <a:srgbClr val="F3F7FA"/>
          </a:solidFill>
          <a:ln>
            <a:solidFill>
              <a:srgbClr val="2A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1581912"/>
            <a:ext cx="15453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8263A"/>
                </a:solidFill>
              </a:defRPr>
            </a:pPr>
            <a:r>
              <a:t>Feature Engineering</a:t>
            </a:r>
          </a:p>
        </p:txBody>
      </p:sp>
      <p:sp>
        <p:nvSpPr>
          <p:cNvPr id="13" name="Chevron 12"/>
          <p:cNvSpPr/>
          <p:nvPr/>
        </p:nvSpPr>
        <p:spPr>
          <a:xfrm>
            <a:off x="5971031" y="1691640"/>
            <a:ext cx="82296" cy="274320"/>
          </a:xfrm>
          <a:prstGeom prst="chevron">
            <a:avLst/>
          </a:prstGeom>
          <a:solidFill>
            <a:srgbClr val="E29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71616" y="1417320"/>
            <a:ext cx="1691640" cy="868680"/>
          </a:xfrm>
          <a:prstGeom prst="roundRect">
            <a:avLst/>
          </a:prstGeom>
          <a:solidFill>
            <a:srgbClr val="F3F7FA"/>
          </a:solidFill>
          <a:ln>
            <a:solidFill>
              <a:srgbClr val="2A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1581912"/>
            <a:ext cx="15453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8263A"/>
                </a:solidFill>
              </a:defRPr>
            </a:pPr>
            <a:r>
              <a:t>PostgreSQL</a:t>
            </a:r>
          </a:p>
        </p:txBody>
      </p:sp>
      <p:sp>
        <p:nvSpPr>
          <p:cNvPr id="16" name="Chevron 15"/>
          <p:cNvSpPr/>
          <p:nvPr/>
        </p:nvSpPr>
        <p:spPr>
          <a:xfrm>
            <a:off x="7781544" y="1691640"/>
            <a:ext cx="82296" cy="274320"/>
          </a:xfrm>
          <a:prstGeom prst="chevron">
            <a:avLst/>
          </a:prstGeom>
          <a:solidFill>
            <a:srgbClr val="E29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82127" y="1417320"/>
            <a:ext cx="1691640" cy="868680"/>
          </a:xfrm>
          <a:prstGeom prst="roundRect">
            <a:avLst/>
          </a:prstGeom>
          <a:solidFill>
            <a:srgbClr val="F3F7FA"/>
          </a:solidFill>
          <a:ln>
            <a:solidFill>
              <a:srgbClr val="2A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1581912"/>
            <a:ext cx="15453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8263A"/>
                </a:solidFill>
              </a:defRPr>
            </a:pPr>
            <a:r>
              <a:t>SQL Reports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063240"/>
            <a:ext cx="3383280" cy="164592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063240"/>
            <a:ext cx="64008" cy="1645920"/>
          </a:xfrm>
          <a:prstGeom prst="rect">
            <a:avLst/>
          </a:prstGeom>
          <a:solidFill>
            <a:srgbClr val="2A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209544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675888"/>
            <a:ext cx="3063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Processed data was loaded into the ofdcanalysis table using SQLAlchemy with PostgreSQL connectivity.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063240"/>
            <a:ext cx="3383280" cy="164592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3063240"/>
            <a:ext cx="64008" cy="1645920"/>
          </a:xfrm>
          <a:prstGeom prst="rect">
            <a:avLst/>
          </a:prstGeom>
          <a:solidFill>
            <a:srgbClr val="24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209544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SQL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675888"/>
            <a:ext cx="3063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GROUP BY, SUM, COUNT, AVG, CASE, HAVING, ORDER BY and conditional aggregation were used for reports.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063240"/>
            <a:ext cx="3383280" cy="164592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063240"/>
            <a:ext cx="64008" cy="1645920"/>
          </a:xfrm>
          <a:prstGeom prst="rect">
            <a:avLst/>
          </a:prstGeom>
          <a:solidFill>
            <a:srgbClr val="E29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3209544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Why SQL?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675888"/>
            <a:ext cx="3063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Database storage provides persistent structured data and makes recurring business summaries reusable.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651967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697480"/>
                </a:solidFill>
              </a:defRPr>
            </a:pPr>
            <a:r>
              <a:t>Online Food Delivery Analysis | Live Project 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97480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63A"/>
                </a:solidFill>
              </a:defRPr>
            </a:pPr>
            <a:r>
              <a:t>Key 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0">
                <a:solidFill>
                  <a:srgbClr val="697480"/>
                </a:solidFill>
              </a:defRPr>
            </a:pPr>
            <a:r>
              <a:t>The most important findings to remember in the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118872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64008" cy="1188720"/>
          </a:xfrm>
          <a:prstGeom prst="rect">
            <a:avLst/>
          </a:prstGeom>
          <a:solidFill>
            <a:srgbClr val="2A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80744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47088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Indian cuisine has the highest order volume and revenue.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234440"/>
            <a:ext cx="5212080" cy="118872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234440"/>
            <a:ext cx="64008" cy="1188720"/>
          </a:xfrm>
          <a:prstGeom prst="rect">
            <a:avLst/>
          </a:prstGeom>
          <a:solidFill>
            <a:srgbClr val="24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380744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847088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Hyderabad has the highest city-level revenue in the analysis.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43200"/>
            <a:ext cx="5212080" cy="118872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743200"/>
            <a:ext cx="64008" cy="1188720"/>
          </a:xfrm>
          <a:prstGeom prst="rect">
            <a:avLst/>
          </a:prstGeom>
          <a:solidFill>
            <a:srgbClr val="E29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889504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55848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Weekday orders are substantially higher than weekend orders.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743200"/>
            <a:ext cx="5212080" cy="118872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2743200"/>
            <a:ext cx="64008" cy="1188720"/>
          </a:xfrm>
          <a:prstGeom prst="rect">
            <a:avLst/>
          </a:prstGeom>
          <a:solidFill>
            <a:srgbClr val="41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889504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355848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Card is the most-used payment method.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51960"/>
            <a:ext cx="5212080" cy="118872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251960"/>
            <a:ext cx="64008" cy="1188720"/>
          </a:xfrm>
          <a:prstGeom prst="rect">
            <a:avLst/>
          </a:prstGeom>
          <a:solidFill>
            <a:srgbClr val="2A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398264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64608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Late delivery is the leading actual cancellation reason.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251960"/>
            <a:ext cx="5212080" cy="1188720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4251960"/>
            <a:ext cx="64008" cy="1188720"/>
          </a:xfrm>
          <a:prstGeom prst="rect">
            <a:avLst/>
          </a:prstGeom>
          <a:solidFill>
            <a:srgbClr val="24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4398264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864608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Average profit margin is approximately 17.88%.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651967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697480"/>
                </a:solidFill>
              </a:defRPr>
            </a:pPr>
            <a:r>
              <a:t>Online Food Delivery Analysis | Live Project Evaluation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97480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63A"/>
                </a:solidFill>
              </a:defRPr>
            </a:pPr>
            <a:r>
              <a:t>Evaluation Criteria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0">
                <a:solidFill>
                  <a:srgbClr val="697480"/>
                </a:solidFill>
              </a:defRPr>
            </a:pPr>
            <a:r>
              <a:t>How the project demonstrates the required 60 marks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88720"/>
            <a:ext cx="5257800" cy="1261872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188720"/>
            <a:ext cx="64008" cy="1261872"/>
          </a:xfrm>
          <a:prstGeom prst="rect">
            <a:avLst/>
          </a:prstGeom>
          <a:solidFill>
            <a:srgbClr val="2A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35024"/>
            <a:ext cx="4937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Code Quality / Data 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01368"/>
            <a:ext cx="4937760" cy="5303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Cleaning, IQR, validation and feature engineering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188720"/>
            <a:ext cx="5257800" cy="1261872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188720"/>
            <a:ext cx="64008" cy="1261872"/>
          </a:xfrm>
          <a:prstGeom prst="rect">
            <a:avLst/>
          </a:prstGeom>
          <a:solidFill>
            <a:srgbClr val="24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335024"/>
            <a:ext cx="4937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Documentation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801368"/>
            <a:ext cx="4937760" cy="5303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PPT/README with objective, workflow, technologies and insights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61488"/>
            <a:ext cx="5257800" cy="1261872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761488"/>
            <a:ext cx="64008" cy="1261872"/>
          </a:xfrm>
          <a:prstGeom prst="rect">
            <a:avLst/>
          </a:prstGeom>
          <a:solidFill>
            <a:srgbClr val="E29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907792"/>
            <a:ext cx="4937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Reusability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374136"/>
            <a:ext cx="4937760" cy="5303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Modular stages can be converted into reusable functions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761488"/>
            <a:ext cx="5257800" cy="1261872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2761488"/>
            <a:ext cx="64008" cy="1261872"/>
          </a:xfrm>
          <a:prstGeom prst="rect">
            <a:avLst/>
          </a:prstGeom>
          <a:solidFill>
            <a:srgbClr val="41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907792"/>
            <a:ext cx="4937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374136"/>
            <a:ext cx="4937760" cy="5303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Problem → data → transformation → analysis → business insight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334256"/>
            <a:ext cx="5257800" cy="1261872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334256"/>
            <a:ext cx="64008" cy="1261872"/>
          </a:xfrm>
          <a:prstGeom prst="rect">
            <a:avLst/>
          </a:prstGeom>
          <a:solidFill>
            <a:srgbClr val="2A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480560"/>
            <a:ext cx="4937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Task Accomplishment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946904"/>
            <a:ext cx="4937760" cy="5303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End-to-end analytics pipeline completed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334256"/>
            <a:ext cx="5257800" cy="1261872"/>
          </a:xfrm>
          <a:prstGeom prst="roundRect">
            <a:avLst/>
          </a:prstGeom>
          <a:solidFill>
            <a:srgbClr val="F3F7FA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4334256"/>
            <a:ext cx="64008" cy="1261872"/>
          </a:xfrm>
          <a:prstGeom prst="rect">
            <a:avLst/>
          </a:prstGeom>
          <a:solidFill>
            <a:srgbClr val="24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4480560"/>
            <a:ext cx="4937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3A"/>
                </a:solidFill>
              </a:defRPr>
            </a:pPr>
            <a:r>
              <a:t>Mock Questions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946904"/>
            <a:ext cx="4937760" cy="5303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 b="0">
                <a:solidFill>
                  <a:srgbClr val="282F37"/>
                </a:solidFill>
              </a:defRPr>
            </a:pPr>
            <a:r>
              <a:t>Python, Pandas, NumPy, EDA, SQL and PostgreSQL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651967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697480"/>
                </a:solidFill>
              </a:defRPr>
            </a:pPr>
            <a:r>
              <a:t>Online Food Delivery Analysis | Live Project Evaluation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97480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241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7EFF6"/>
                </a:solidFill>
              </a:defRPr>
            </a:pPr>
            <a:r>
              <a:t>• Built a complete analytics workflow for 100,000 online food delivery orders.</a:t>
            </a:r>
          </a:p>
          <a:p>
            <a:pPr>
              <a:spcAft>
                <a:spcPts val="800"/>
              </a:spcAft>
              <a:defRPr sz="1800">
                <a:solidFill>
                  <a:srgbClr val="E7EFF6"/>
                </a:solidFill>
              </a:defRPr>
            </a:pPr>
            <a:r>
              <a:t>• Performed missing-value treatment, outlier analysis and business-rule validation.</a:t>
            </a:r>
          </a:p>
          <a:p>
            <a:pPr>
              <a:spcAft>
                <a:spcPts val="800"/>
              </a:spcAft>
              <a:defRPr sz="1800">
                <a:solidFill>
                  <a:srgbClr val="E7EFF6"/>
                </a:solidFill>
              </a:defRPr>
            </a:pPr>
            <a:r>
              <a:t>• Created analytical features for demand, profitability and delivery performance.</a:t>
            </a:r>
          </a:p>
          <a:p>
            <a:pPr>
              <a:spcAft>
                <a:spcPts val="800"/>
              </a:spcAft>
              <a:defRPr sz="1800">
                <a:solidFill>
                  <a:srgbClr val="E7EFF6"/>
                </a:solidFill>
              </a:defRPr>
            </a:pPr>
            <a:r>
              <a:t>• Used EDA and SQL to identify customer, revenue, restaurant and operational insights.</a:t>
            </a:r>
          </a:p>
          <a:p>
            <a:pPr>
              <a:spcAft>
                <a:spcPts val="800"/>
              </a:spcAft>
              <a:defRPr sz="1800">
                <a:solidFill>
                  <a:srgbClr val="E7EFF6"/>
                </a:solidFill>
              </a:defRPr>
            </a:pPr>
            <a:r>
              <a:t>• Converted raw transactional data into business-focused recommendations.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623560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29136"/>
                </a:solidFill>
              </a:defRPr>
            </a:pPr>
            <a:r>
              <a:t>Thank you. I am ready for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